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9e2c92c49845ff" /><Relationship Type="http://schemas.openxmlformats.org/officeDocument/2006/relationships/extended-properties" Target="/docProps/app.xml" Id="R1e04c704a03f47c0" /><Relationship Type="http://schemas.openxmlformats.org/officeDocument/2006/relationships/officeDocument" Target="/ppt/presentation.xml" Id="R059f1832d2224a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f4ebca0a6446e3"/>
  </p:sldMasterIdLst>
  <p:notesMasterIdLst>
    <p:notesMasterId xmlns:r="http://schemas.openxmlformats.org/officeDocument/2006/relationships" r:id="Rdfab006e45b140ce"/>
  </p:notesMasterIdLst>
  <p:sldIdLst>
    <p:sldId xmlns:r="http://schemas.openxmlformats.org/officeDocument/2006/relationships" id="256" r:id="R748ada5a144c48b5"/>
    <p:sldId xmlns:r="http://schemas.openxmlformats.org/officeDocument/2006/relationships" id="257" r:id="R4855c36856f94ed5"/>
    <p:sldId xmlns:r="http://schemas.openxmlformats.org/officeDocument/2006/relationships" id="258" r:id="R04dfd23f5e2f4a55"/>
    <p:sldId xmlns:r="http://schemas.openxmlformats.org/officeDocument/2006/relationships" id="259" r:id="R9b450ec030034446"/>
    <p:sldId xmlns:r="http://schemas.openxmlformats.org/officeDocument/2006/relationships" id="260" r:id="R93481485d6f148de"/>
    <p:sldId xmlns:r="http://schemas.openxmlformats.org/officeDocument/2006/relationships" id="261" r:id="R0167af30a5fc4f4a"/>
    <p:sldId xmlns:r="http://schemas.openxmlformats.org/officeDocument/2006/relationships" id="262" r:id="R4fcace3c8c914817"/>
    <p:sldId xmlns:r="http://schemas.openxmlformats.org/officeDocument/2006/relationships" id="263" r:id="Rac9b7b71188841a0"/>
    <p:sldId xmlns:r="http://schemas.openxmlformats.org/officeDocument/2006/relationships" id="264" r:id="Rff5bfece28b24fd9"/>
    <p:sldId xmlns:r="http://schemas.openxmlformats.org/officeDocument/2006/relationships" id="265" r:id="R114efea47d35454b"/>
    <p:sldId xmlns:r="http://schemas.openxmlformats.org/officeDocument/2006/relationships" id="266" r:id="Rd9dc3c708a964543"/>
    <p:sldId xmlns:r="http://schemas.openxmlformats.org/officeDocument/2006/relationships" id="267" r:id="Rde02732dca1145a0"/>
    <p:sldId xmlns:r="http://schemas.openxmlformats.org/officeDocument/2006/relationships" id="268" r:id="R9df1a610ddf64587"/>
    <p:sldId xmlns:r="http://schemas.openxmlformats.org/officeDocument/2006/relationships" id="269" r:id="R9459569ab12b4c51"/>
    <p:sldId xmlns:r="http://schemas.openxmlformats.org/officeDocument/2006/relationships" id="270" r:id="R477b1c8173d64696"/>
    <p:sldId xmlns:r="http://schemas.openxmlformats.org/officeDocument/2006/relationships" id="271" r:id="R8f2fa1a6625942bf"/>
    <p:sldId xmlns:r="http://schemas.openxmlformats.org/officeDocument/2006/relationships" id="272" r:id="Rf96a26ed24114233"/>
    <p:sldId xmlns:r="http://schemas.openxmlformats.org/officeDocument/2006/relationships" id="273" r:id="Rf9d5ae1061c542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f608ee662c4fca" /><Relationship Type="http://schemas.openxmlformats.org/officeDocument/2006/relationships/slideMaster" Target="/ppt/slideMasters/slideMaster1.xml" Id="R8df4ebca0a6446e3" /><Relationship Type="http://schemas.openxmlformats.org/officeDocument/2006/relationships/notesMaster" Target="/ppt/notesMasters/notesMaster1.xml" Id="Rdfab006e45b140ce" /><Relationship Type="http://schemas.openxmlformats.org/officeDocument/2006/relationships/presProps" Target="/ppt/presProps.xml" Id="R423425d4605d4bca" /><Relationship Type="http://schemas.openxmlformats.org/officeDocument/2006/relationships/tableStyles" Target="/ppt/tableStyles.xml" Id="Ra9d3c9cce83546b5" /><Relationship Type="http://schemas.openxmlformats.org/officeDocument/2006/relationships/slide" Target="/ppt/slides/slide1.xml" Id="R748ada5a144c48b5" /><Relationship Type="http://schemas.openxmlformats.org/officeDocument/2006/relationships/slide" Target="/ppt/slides/slide2.xml" Id="R4855c36856f94ed5" /><Relationship Type="http://schemas.openxmlformats.org/officeDocument/2006/relationships/slide" Target="/ppt/slides/slide3.xml" Id="R04dfd23f5e2f4a55" /><Relationship Type="http://schemas.openxmlformats.org/officeDocument/2006/relationships/slide" Target="/ppt/slides/slide4.xml" Id="R9b450ec030034446" /><Relationship Type="http://schemas.openxmlformats.org/officeDocument/2006/relationships/slide" Target="/ppt/slides/slide5.xml" Id="R93481485d6f148de" /><Relationship Type="http://schemas.openxmlformats.org/officeDocument/2006/relationships/slide" Target="/ppt/slides/slide6.xml" Id="R0167af30a5fc4f4a" /><Relationship Type="http://schemas.openxmlformats.org/officeDocument/2006/relationships/slide" Target="/ppt/slides/slide7.xml" Id="R4fcace3c8c914817" /><Relationship Type="http://schemas.openxmlformats.org/officeDocument/2006/relationships/slide" Target="/ppt/slides/slide8.xml" Id="Rac9b7b71188841a0" /><Relationship Type="http://schemas.openxmlformats.org/officeDocument/2006/relationships/slide" Target="/ppt/slides/slide9.xml" Id="Rff5bfece28b24fd9" /><Relationship Type="http://schemas.openxmlformats.org/officeDocument/2006/relationships/slide" Target="/ppt/slides/slide10.xml" Id="R114efea47d35454b" /><Relationship Type="http://schemas.openxmlformats.org/officeDocument/2006/relationships/slide" Target="/ppt/slides/slide11.xml" Id="Rd9dc3c708a964543" /><Relationship Type="http://schemas.openxmlformats.org/officeDocument/2006/relationships/slide" Target="/ppt/slides/slide12.xml" Id="Rde02732dca1145a0" /><Relationship Type="http://schemas.openxmlformats.org/officeDocument/2006/relationships/slide" Target="/ppt/slides/slide13.xml" Id="R9df1a610ddf64587" /><Relationship Type="http://schemas.openxmlformats.org/officeDocument/2006/relationships/slide" Target="/ppt/slides/slide14.xml" Id="R9459569ab12b4c51" /><Relationship Type="http://schemas.openxmlformats.org/officeDocument/2006/relationships/slide" Target="/ppt/slides/slide15.xml" Id="R477b1c8173d64696" /><Relationship Type="http://schemas.openxmlformats.org/officeDocument/2006/relationships/slide" Target="/ppt/slides/slide16.xml" Id="R8f2fa1a6625942bf" /><Relationship Type="http://schemas.openxmlformats.org/officeDocument/2006/relationships/slide" Target="/ppt/slides/slide17.xml" Id="Rf96a26ed24114233" /><Relationship Type="http://schemas.openxmlformats.org/officeDocument/2006/relationships/slide" Target="/ppt/slides/slide18.xml" Id="Rf9d5ae1061c542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5c90c3a4e540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ba8620dddf40bf" /><Relationship Type="http://schemas.openxmlformats.org/officeDocument/2006/relationships/notesMaster" Target="/ppt/notesMasters/notesMaster1.xml" Id="Rc6faad5ce7b448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dd0e657e8c4a57" /><Relationship Type="http://schemas.openxmlformats.org/officeDocument/2006/relationships/notesMaster" Target="/ppt/notesMasters/notesMaster1.xml" Id="R65bf024204ee42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4bfa4d85ac4d6f" /><Relationship Type="http://schemas.openxmlformats.org/officeDocument/2006/relationships/notesMaster" Target="/ppt/notesMasters/notesMaster1.xml" Id="R6b84bdfab87c41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25026fca1547b0" /><Relationship Type="http://schemas.openxmlformats.org/officeDocument/2006/relationships/notesMaster" Target="/ppt/notesMasters/notesMaster1.xml" Id="R23ee36f6a8f649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d80c5816094dc4" /><Relationship Type="http://schemas.openxmlformats.org/officeDocument/2006/relationships/notesMaster" Target="/ppt/notesMasters/notesMaster1.xml" Id="R72a4d423a8df46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21864329d84c5c" /><Relationship Type="http://schemas.openxmlformats.org/officeDocument/2006/relationships/notesMaster" Target="/ppt/notesMasters/notesMaster1.xml" Id="R7080e8f0377a49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a89876db6441f6" /><Relationship Type="http://schemas.openxmlformats.org/officeDocument/2006/relationships/notesMaster" Target="/ppt/notesMasters/notesMaster1.xml" Id="Ra1c39c9fe7894d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cf8921befd498f" /><Relationship Type="http://schemas.openxmlformats.org/officeDocument/2006/relationships/notesMaster" Target="/ppt/notesMasters/notesMaster1.xml" Id="R49461da2a2cd4e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92835c21d24c9e" /><Relationship Type="http://schemas.openxmlformats.org/officeDocument/2006/relationships/notesMaster" Target="/ppt/notesMasters/notesMaster1.xml" Id="Rec8f2ecc91a643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c61a6f03824cf7" /><Relationship Type="http://schemas.openxmlformats.org/officeDocument/2006/relationships/notesMaster" Target="/ppt/notesMasters/notesMaster1.xml" Id="R514ac9d5b95b47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a833a259434eeb" /><Relationship Type="http://schemas.openxmlformats.org/officeDocument/2006/relationships/notesMaster" Target="/ppt/notesMasters/notesMaster1.xml" Id="Rb5f725b34e1f4f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fca30cb3114a95" /><Relationship Type="http://schemas.openxmlformats.org/officeDocument/2006/relationships/notesMaster" Target="/ppt/notesMasters/notesMaster1.xml" Id="R7744c070951744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ba92fc65f04aa2" /><Relationship Type="http://schemas.openxmlformats.org/officeDocument/2006/relationships/notesMaster" Target="/ppt/notesMasters/notesMaster1.xml" Id="Rea61cb8384d944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89e7f268d34bc1" /><Relationship Type="http://schemas.openxmlformats.org/officeDocument/2006/relationships/notesMaster" Target="/ppt/notesMasters/notesMaster1.xml" Id="R0ee25054314446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a835d28e344a28" /><Relationship Type="http://schemas.openxmlformats.org/officeDocument/2006/relationships/notesMaster" Target="/ppt/notesMasters/notesMaster1.xml" Id="R8225c68c279d49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6731e45e0e466c" /><Relationship Type="http://schemas.openxmlformats.org/officeDocument/2006/relationships/notesMaster" Target="/ppt/notesMasters/notesMaster1.xml" Id="R151b7c148d3543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6cff1f4fc94f56" /><Relationship Type="http://schemas.openxmlformats.org/officeDocument/2006/relationships/notesMaster" Target="/ppt/notesMasters/notesMaster1.xml" Id="R3b20cfe3275e4d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018c6bb1c8461e" /><Relationship Type="http://schemas.openxmlformats.org/officeDocument/2006/relationships/notesMaster" Target="/ppt/notesMasters/notesMaster1.xml" Id="R3cf28c894a7f46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5bace483340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cdc86b595047bf" /><Relationship Type="http://schemas.openxmlformats.org/officeDocument/2006/relationships/slideLayout" Target="/ppt/slideLayouts/slideLayout1.xml" Id="R82992dd338ba4d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992dd338ba4d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11457df374064" /><Relationship Type="http://schemas.openxmlformats.org/officeDocument/2006/relationships/image" Target="/ppt/media/image.png" Id="R4610899b78df45f1" /><Relationship Type="http://schemas.openxmlformats.org/officeDocument/2006/relationships/notesSlide" Target="/ppt/notesSlides/notesSlide1.xml" Id="R6a327572a82443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c5e118b8d4d71" /><Relationship Type="http://schemas.openxmlformats.org/officeDocument/2006/relationships/image" Target="/ppt/media/image2.png" Id="Rd621b5f886ba4d2e" /><Relationship Type="http://schemas.openxmlformats.org/officeDocument/2006/relationships/notesSlide" Target="/ppt/notesSlides/notesSlide2.xml" Id="Red52a9059cb94b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b2224853b488a" /><Relationship Type="http://schemas.openxmlformats.org/officeDocument/2006/relationships/image" Target="/ppt/media/image3.png" Id="R3ccd393a28fd4fa2" /><Relationship Type="http://schemas.openxmlformats.org/officeDocument/2006/relationships/notesSlide" Target="/ppt/notesSlides/notesSlide3.xml" Id="R77db77e5cdaa40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005ba356a4bbf" /><Relationship Type="http://schemas.openxmlformats.org/officeDocument/2006/relationships/image" Target="/ppt/media/image4.png" Id="Rcc1df98016544222" /><Relationship Type="http://schemas.openxmlformats.org/officeDocument/2006/relationships/notesSlide" Target="/ppt/notesSlides/notesSlide4.xml" Id="Rb37b0f6a1a324b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87aef3a314ae4" /><Relationship Type="http://schemas.openxmlformats.org/officeDocument/2006/relationships/image" Target="/ppt/media/image5.png" Id="R41bcd1e7c55945a3" /><Relationship Type="http://schemas.openxmlformats.org/officeDocument/2006/relationships/notesSlide" Target="/ppt/notesSlides/notesSlide5.xml" Id="Ra5ea5a692e7547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a49ef2cd649ff" /><Relationship Type="http://schemas.openxmlformats.org/officeDocument/2006/relationships/image" Target="/ppt/media/image6.png" Id="Ra8e846def65d4a88" /><Relationship Type="http://schemas.openxmlformats.org/officeDocument/2006/relationships/notesSlide" Target="/ppt/notesSlides/notesSlide6.xml" Id="R8be141164d954e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332a4e8d5412d" /><Relationship Type="http://schemas.openxmlformats.org/officeDocument/2006/relationships/image" Target="/ppt/media/image7.png" Id="R6063429e80d5492b" /><Relationship Type="http://schemas.openxmlformats.org/officeDocument/2006/relationships/notesSlide" Target="/ppt/notesSlides/notesSlide7.xml" Id="Rae18928207fd4a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c51de716f4e60" /><Relationship Type="http://schemas.openxmlformats.org/officeDocument/2006/relationships/image" Target="/ppt/media/image8.png" Id="Rfb9a264539e14947" /><Relationship Type="http://schemas.openxmlformats.org/officeDocument/2006/relationships/notesSlide" Target="/ppt/notesSlides/notesSlide8.xml" Id="R988d4509fe9341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2e9019f4b41b7" /><Relationship Type="http://schemas.openxmlformats.org/officeDocument/2006/relationships/image" Target="/ppt/media/image9.png" Id="R44339b9f96424cae" /><Relationship Type="http://schemas.openxmlformats.org/officeDocument/2006/relationships/notesSlide" Target="/ppt/notesSlides/notesSlide9.xml" Id="R5c74790707254c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353564d264917" /><Relationship Type="http://schemas.openxmlformats.org/officeDocument/2006/relationships/image" Target="/ppt/media/image10.png" Id="R5afd1413a71245b3" /><Relationship Type="http://schemas.openxmlformats.org/officeDocument/2006/relationships/image" Target="/ppt/media/image11.png" Id="R1f09dea5173d424f" /><Relationship Type="http://schemas.openxmlformats.org/officeDocument/2006/relationships/notesSlide" Target="/ppt/notesSlides/notesSlide10.xml" Id="R026a119f9ee446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506c34b394d2f" /><Relationship Type="http://schemas.openxmlformats.org/officeDocument/2006/relationships/image" Target="/ppt/media/image12.png" Id="R86a8b5130006469e" /><Relationship Type="http://schemas.openxmlformats.org/officeDocument/2006/relationships/image" Target="/ppt/media/image13.png" Id="Redf0681cac4049ce" /><Relationship Type="http://schemas.openxmlformats.org/officeDocument/2006/relationships/notesSlide" Target="/ppt/notesSlides/notesSlide11.xml" Id="Rdaa61bf014e446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b664535924d27" /><Relationship Type="http://schemas.openxmlformats.org/officeDocument/2006/relationships/image" Target="/ppt/media/image14.png" Id="R1b85e08e8f534fee" /><Relationship Type="http://schemas.openxmlformats.org/officeDocument/2006/relationships/image" Target="/ppt/media/image15.png" Id="R6672b38eabf549f5" /><Relationship Type="http://schemas.openxmlformats.org/officeDocument/2006/relationships/notesSlide" Target="/ppt/notesSlides/notesSlide12.xml" Id="Rb7d7e006581f44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78078fcc444b0" /><Relationship Type="http://schemas.openxmlformats.org/officeDocument/2006/relationships/image" Target="/ppt/media/image16.png" Id="R15fcc7453a5847fe" /><Relationship Type="http://schemas.openxmlformats.org/officeDocument/2006/relationships/image" Target="/ppt/media/image17.png" Id="R510b118ba7564873" /><Relationship Type="http://schemas.openxmlformats.org/officeDocument/2006/relationships/image" Target="/ppt/media/image18.png" Id="Rfc51a1c9397b4753" /><Relationship Type="http://schemas.openxmlformats.org/officeDocument/2006/relationships/notesSlide" Target="/ppt/notesSlides/notesSlide13.xml" Id="Rc13e92e3de5847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d30d58b2b4e7d" /><Relationship Type="http://schemas.openxmlformats.org/officeDocument/2006/relationships/image" Target="/ppt/media/image19.png" Id="R62a861ee069e4461" /><Relationship Type="http://schemas.openxmlformats.org/officeDocument/2006/relationships/notesSlide" Target="/ppt/notesSlides/notesSlide14.xml" Id="R64bd4ddca1d54c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9c83018374d6c" /><Relationship Type="http://schemas.openxmlformats.org/officeDocument/2006/relationships/image" Target="/ppt/media/image20.png" Id="R6184749585ba4f62" /><Relationship Type="http://schemas.openxmlformats.org/officeDocument/2006/relationships/notesSlide" Target="/ppt/notesSlides/notesSlide15.xml" Id="R8187abf3d20943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56ddbdd3f470f" /><Relationship Type="http://schemas.openxmlformats.org/officeDocument/2006/relationships/image" Target="/ppt/media/image21.png" Id="R56e52454ece24b9f" /><Relationship Type="http://schemas.openxmlformats.org/officeDocument/2006/relationships/notesSlide" Target="/ppt/notesSlides/notesSlide16.xml" Id="R173ef65e963747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65e646c834325" /><Relationship Type="http://schemas.openxmlformats.org/officeDocument/2006/relationships/image" Target="/ppt/media/image22.png" Id="Rb52d5dbecae54cdf" /><Relationship Type="http://schemas.openxmlformats.org/officeDocument/2006/relationships/notesSlide" Target="/ppt/notesSlides/notesSlide17.xml" Id="R263a5dcb0a5242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1d13c0aeb4316" /><Relationship Type="http://schemas.openxmlformats.org/officeDocument/2006/relationships/image" Target="/ppt/media/image23.png" Id="Rec92ae5aaebc41c1" /><Relationship Type="http://schemas.openxmlformats.org/officeDocument/2006/relationships/image" Target="/ppt/media/image24.png" Id="R9225eae6dfa34aee" /><Relationship Type="http://schemas.openxmlformats.org/officeDocument/2006/relationships/notesSlide" Target="/ppt/notesSlides/notesSlide18.xml" Id="R832e1922cf2849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D67AC6-B4E4-46B4-A399-FA1B0324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66B76-DB40-4900-BBFA-5A514F20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865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5D12A-4738-4600-9839-B2F25667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F5861-5472-48B4-A19A-E74B073E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953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95A68-0E03-446C-BD9A-BFE27E30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53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D9305-AA41-461A-85C0-55BEAF29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953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3AC70-94D1-4F6E-89EB-6C5F3B99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04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89E9E-58F4-498B-977B-FDA07F9B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04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6DD3D-D9BB-410D-8882-CA945FB9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704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E7023-DB06-4CAB-892A-4753AB0F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14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5B7DA-E5E9-4B0D-AE65-0671E288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14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C0CB7-2CCA-4939-9951-63C93F66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914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0899b78df45f1"/>
          <a:stretch xmlns:a="http://schemas.openxmlformats.org/drawingml/2006/main"/>
        </p:blipFill>
        <p:spPr>
          <a:xfrm xmlns:a="http://schemas.openxmlformats.org/drawingml/2006/main">
            <a:off x="4095750" y="1068891"/>
            <a:ext cx="4000500" cy="62446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6E36A-248D-477B-B253-D5126BBF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95550"/>
            <a:ext cx="121920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ACD15-B939-4133-84EA-05E84820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8130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仓库库存管理系统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63E85-1246-433D-B309-1A82B6A3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86150"/>
            <a:ext cx="1219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DCFE8"/>
                </a:solidFill>
              </a:defRPr>
            </a:pPr>
            <a:r>
              <a:rPr sz="1650" b="0">
                <a:solidFill>
                  <a:srgbClr val="BDCFE8"/>
                </a:solidFill>
              </a:rPr>
              <a:t>Warehouse Inventory Management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36BAE-F2F3-4636-9775-64B10E8B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24300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C2CF67-C10B-4852-8749-7C8617EB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答辩人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CA713-62E6-48C4-9F31-4F452EC8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81C44-E83E-47A9-B137-912C96B5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指导教师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BEDBB-7C2F-4504-BFFF-57F6A334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197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9507D-E6D6-4749-A9B8-53330A85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答辩时间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950C80-DEB0-4A40-A018-409C57D4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64208-4863-4107-906D-FCC7EDD3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86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B5FB4-F59E-4E83-8187-C1C5B985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198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BD5110-706F-44AF-8B7D-C4F256E0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E0AD61-4470-4E6D-8AAB-05A03B7E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15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2EE013-CAC0-4C5E-8EC4-B41733A6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15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C13117-2563-433C-A5FC-758C6DD9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62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7947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9A24E3-CA35-4C01-A9D6-C15236DD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23812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2A9F8-0BCD-4172-BCD1-36CE4F53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323850" cy="3238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00594-0C69-40C4-AED3-75084D3D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81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01328-B838-4982-870D-969AF8AD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70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75003-F6B0-413C-B423-E06DF42D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6BCDD"/>
                </a:solidFill>
              </a:defRPr>
            </a:pPr>
            <a:r>
              <a:rPr sz="1575" b="0">
                <a:solidFill>
                  <a:srgbClr val="A6BCDD"/>
                </a:solidFill>
              </a:rPr>
              <a:t>CONTENTS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1EA55-6153-406E-B019-BD4C5537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C2982-B4D6-4D6D-9A96-C7E9707C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476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1b5f886ba4d2e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CAEF1-5622-4DCE-99B5-9B3DCC5C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43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DEB77-4C8D-44A4-B3C9-69F4A52B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AF674-CAF6-4049-868C-43828AF5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研究背景与意义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3DEA6-B9E5-4A86-92BE-FB8A47D1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Background and significance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440CF-ABFF-43FF-AF4C-94BC90D3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43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CA7B3-C4F4-4425-B349-764232E7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AD9D3-0528-47D2-8D12-236C08C5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系统目标与功能概述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3C84C-0426-433D-BFEE-1DBCFEFE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Goals and functional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36AAE-4425-426C-915E-1BD6486B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717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EDC17-E844-4955-AF8D-8BFCD4A1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86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D55A4-350C-41A3-BC22-AB7BAE65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5272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技术栈介绍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F4E930-6303-4C99-A436-E751620D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14675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Technology stack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B837A-6474-4791-97F9-67836633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717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D9C15-CA47-4DD8-8518-A036A96E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86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E546B-3385-481F-8785-9C6E2A20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5272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系统架构设计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1B016-1D8C-4DBC-943B-4CF926BF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System architecture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4288D-53C7-484C-A2BF-2305C82B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5F5AA-42B1-4101-BED4-007EC21E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B25720-8D09-406F-B9BA-9B10AE64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8140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数据库设计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95C81E-9048-4454-AEE5-02A24F0B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4335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Database design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88900C-CC77-410D-B162-2278FA79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BD96DF-D0B4-4222-BEB0-BFEDE33D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F273BA-0967-4824-B92B-D87993EF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核心功能展示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EB50A-0BD2-4482-82DC-250BCBAA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4335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Core features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C6A311-B70F-48BB-8F79-225F0FDE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29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DDF725-2984-44ED-BA57-8C6E1C2E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434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A49352-220B-4AAE-A116-1884A65F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100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关键技术难点与解决方案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9FD587-49C0-40CC-AC74-02E0F8CA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72025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Key techniques and solutions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9B07CE-6439-45D7-8685-AA056435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70B8AA-3E7A-4704-A9B3-8CF44A76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434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866877-93DC-4DBA-B20C-92AFB920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00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系统测试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1372AE-1843-4C46-9454-20FC350A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72025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System testing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588D5E-92F5-497A-A48F-CA9014F1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F6D8B5-8FB2-4D19-9C7B-53568E3F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72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DF3B85-60E4-4EBE-A26F-F37A3FCA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387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总结与展望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59CD41-F179-4B91-AA1A-435862B7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0070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Summary and outlook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E8F02C-EF69-402A-8040-03D7C933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57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3DDEA4-F312-4799-8E30-51F3C9D5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72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608C52-1C98-4904-AA46-F57568DA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387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致谢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0173B7-46B0-4247-9068-BF5881EE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0070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985917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BF1A41-7283-4DFD-B556-58A95F50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3852E-138B-4C28-951B-3720ABDA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C79A9-7D9F-4968-B7A5-9C10DE0C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研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究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背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DD46B-BA38-407D-982D-3FA07E22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CC716-086A-47AB-AB2B-F6291A11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8814C-CC3F-4215-8E7B-9D617129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d393a28fd4fa2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E41C19A-2552-4EC1-9257-C9243A68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研究背景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3C29FB8-70F5-478B-9F27-54C45725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库存管理的难点不在记账，而在决定该补多少货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61E22-3996-4B9A-8095-7D27F3F4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F544F-C0B1-4060-8063-A69D2A82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8DF01-4FDB-4ED1-A234-D166E1AA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47850"/>
            <a:ext cx="1013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中小企业与院校仓库普遍停留在「人工台账 + 经验补货」阶段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2B9F2-C373-4C82-B735-124C1A91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03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BD9EC"/>
                </a:solidFill>
              </a:defRPr>
            </a:pPr>
            <a:r>
              <a:rPr sz="2400" b="1">
                <a:solidFill>
                  <a:srgbClr val="CBD9EC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EFE51-C1C7-446E-98EC-2A44D751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812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02E"/>
                </a:solidFill>
              </a:defRPr>
            </a:pPr>
            <a:r>
              <a:rPr sz="2400" b="1">
                <a:solidFill>
                  <a:srgbClr val="16202E"/>
                </a:solidFill>
              </a:rPr>
              <a:t>效率受限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C6473-E0E3-4F44-81DC-8D316EA3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902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出入库依赖手工台账与表格，查询统计滞后，单据难以追溯。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2DB6F-9779-443A-8228-46DDFB2D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956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81831-A623-4DCF-9935-8C838B1C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623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BD9EC"/>
                </a:solidFill>
              </a:defRPr>
            </a:pPr>
            <a:r>
              <a:rPr sz="2400" b="1">
                <a:solidFill>
                  <a:srgbClr val="CBD9EC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AF2B6-D897-41A8-BBD5-981A2A06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433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02E"/>
                </a:solidFill>
              </a:defRPr>
            </a:pPr>
            <a:r>
              <a:rPr sz="2400" b="1">
                <a:solidFill>
                  <a:srgbClr val="16202E"/>
                </a:solidFill>
              </a:rPr>
              <a:t>账实易脱节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C9A77-1D37-4E7A-89DF-00BD63B5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81450"/>
            <a:ext cx="902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批次与有效期无人管控，盘点差异只能事后补救。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BA61A-61F7-47AA-A566-965C73E8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5770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88CF7-F601-4007-9CF8-5A204425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244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BD9EC"/>
                </a:solidFill>
              </a:defRPr>
            </a:pPr>
            <a:r>
              <a:rPr sz="2400" b="1">
                <a:solidFill>
                  <a:srgbClr val="CBD9EC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6B854-1440-4E59-957A-6C4E165F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053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02E"/>
                </a:solidFill>
              </a:defRPr>
            </a:pPr>
            <a:r>
              <a:rPr sz="2400" b="1">
                <a:solidFill>
                  <a:srgbClr val="16202E"/>
                </a:solidFill>
              </a:rPr>
              <a:t>决策靠经验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B6255-10AC-464C-ACA7-7B02B997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43500"/>
            <a:ext cx="902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缺货与积压同时存在，补货量全凭个人经验判断。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BC740-D35B-47B3-B1BF-F08DF58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715000"/>
            <a:ext cx="902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B5AA7"/>
                </a:solidFill>
              </a:defRPr>
            </a:pPr>
            <a:r>
              <a:rPr sz="1650" b="1">
                <a:solidFill>
                  <a:srgbClr val="2B5AA7"/>
                </a:solidFill>
              </a:rPr>
              <a:t>记录问题已经被现有工具解决，决策问题还没有。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10AE4B-9968-47B9-B8AC-BDB9A4CB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AEC6BD-DA0D-4610-A66A-98BF4F63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5B405F-C2BF-4699-8088-3EE2FA4B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03 / 18</a:t>
            </a:r>
          </a:p>
        </p:txBody>
      </p:sp>
    </p:spTree>
    <p:extLst>
      <p:ext uri="{BB962C8B-B14F-4D97-AF65-F5344CB8AC3E}">
        <p14:creationId xmlns:p14="http://schemas.microsoft.com/office/powerpoint/2010/main" val="10224363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87C3E7-C5B6-4413-A58C-0F78B699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DDE76-781B-4BA1-9F53-3083C51E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46BAC-A607-4C5E-8B84-D08B9729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研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究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背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94DC2-369C-4CA3-9BEC-140FF758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7FF57-1FDE-4C1B-8F32-904BBF88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6AD81-649D-4F9D-9101-4A249191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df98016544222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393B065-7287-4417-971D-8C20785B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研究背景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AE75E54-96AE-4A2E-A2EB-692C4EF7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开源方案能管好单据，但管不了补货决策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5EB27-50AA-4F0B-936A-546BA594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ED103-A9EE-4AD0-80E8-D1035118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A7CB0-6525-43DE-8729-275789C3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71650"/>
            <a:ext cx="1013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对照对象：开源仓库管理系统 wms-ruoyi（MIT 协议，基于若依框架）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72E91-B0BA-44A6-BA2D-A078ECC2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71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B7889"/>
                </a:solidFill>
              </a:defRPr>
            </a:pPr>
            <a:r>
              <a:rPr sz="1650" b="1">
                <a:solidFill>
                  <a:srgbClr val="6B7889"/>
                </a:solidFill>
              </a:rPr>
              <a:t>对比维度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98955-7EE3-4714-9B60-9DA38639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71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B7889"/>
                </a:solidFill>
              </a:defRPr>
            </a:pPr>
            <a:r>
              <a:rPr sz="1650" b="1">
                <a:solidFill>
                  <a:srgbClr val="6B7889"/>
                </a:solidFill>
              </a:rPr>
              <a:t>开源 WMS 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E74DB-3905-4165-8423-A0339907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B5AA7"/>
                </a:solidFill>
              </a:defRPr>
            </a:pPr>
            <a:r>
              <a:rPr sz="1650" b="1">
                <a:solidFill>
                  <a:srgbClr val="2B5AA7"/>
                </a:solidFill>
              </a:rPr>
              <a:t>本系统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99797-A1E0-41F1-A86D-1F0DD9AE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1013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8ABD3-4196-4D6D-B737-FAC6F445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B7889"/>
                </a:solidFill>
              </a:defRPr>
            </a:pPr>
            <a:r>
              <a:rPr sz="1650" b="1">
                <a:solidFill>
                  <a:srgbClr val="6B7889"/>
                </a:solidFill>
              </a:rPr>
              <a:t>单据审核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AFC8D-2EFE-4B40-B444-373B626B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860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仅暂存 / 作废 / 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37860-C4FB-4BA8-931C-9F7481F5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86050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E"/>
                </a:solidFill>
              </a:defRPr>
            </a:pPr>
            <a:r>
              <a:rPr sz="1650" b="1">
                <a:solidFill>
                  <a:srgbClr val="16202E"/>
                </a:solidFill>
              </a:rPr>
              <a:t>草稿 → 待审核 → 已过账 / 已驳回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146C2-C0AE-4E10-9B72-E389E5A4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5C687E-8B6F-4963-894D-FCE7A999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B7889"/>
                </a:solidFill>
              </a:defRPr>
            </a:pPr>
            <a:r>
              <a:rPr sz="1650" b="1">
                <a:solidFill>
                  <a:srgbClr val="6B7889"/>
                </a:solidFill>
              </a:rPr>
              <a:t>批次与效期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4E7FE-6E38-4E8F-A043-CCFD498E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575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主分支无批次与有效期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8EBFA-88CA-4ED0-B84C-96484C2A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57550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E"/>
                </a:solidFill>
              </a:defRPr>
            </a:pPr>
            <a:r>
              <a:rPr sz="1650" b="1">
                <a:solidFill>
                  <a:srgbClr val="16202E"/>
                </a:solidFill>
              </a:rPr>
              <a:t>按批次入库，支持临期预警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2384B7-D0EE-425E-9B35-4788A1E0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213C4B-757F-4B3A-9139-DB7C3090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29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B7889"/>
                </a:solidFill>
              </a:defRPr>
            </a:pPr>
            <a:r>
              <a:rPr sz="1650" b="1">
                <a:solidFill>
                  <a:srgbClr val="6B7889"/>
                </a:solidFill>
              </a:rPr>
              <a:t>并发控制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23EE41-9A18-4D12-AA16-2902AD1C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290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先查后改，存在超卖风险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D9F880-F0DD-4FDF-885A-1B278BA2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29050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E"/>
                </a:solidFill>
              </a:defRPr>
            </a:pPr>
            <a:r>
              <a:rPr sz="1650" b="1">
                <a:solidFill>
                  <a:srgbClr val="16202E"/>
                </a:solidFill>
              </a:rPr>
              <a:t>条件更新兜底，杜绝负库存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BAAE4E-9CDE-48F2-91E8-800E84C8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862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CEFD8-1AF4-474B-B7A9-C9DFA320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00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B7889"/>
                </a:solidFill>
              </a:defRPr>
            </a:pPr>
            <a:r>
              <a:rPr sz="1650" b="1">
                <a:solidFill>
                  <a:srgbClr val="6B7889"/>
                </a:solidFill>
              </a:rPr>
              <a:t>补货决策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AE51DD-2B9F-45BE-878E-00F957D4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005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无，只有简单库存预警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96D09D-466F-47AC-A2CD-6CA9B481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00550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E"/>
                </a:solidFill>
              </a:defRPr>
            </a:pPr>
            <a:r>
              <a:rPr sz="1650" b="1">
                <a:solidFill>
                  <a:srgbClr val="16202E"/>
                </a:solidFill>
              </a:rPr>
              <a:t>ABC 分类 + 安全库存 + EOQ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A637B0-1667-4248-8AD3-F8ABDD83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577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984D55-E94C-4613-A12A-D4719D79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72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B7889"/>
                </a:solidFill>
              </a:defRPr>
            </a:pPr>
            <a:r>
              <a:rPr sz="1650" b="1">
                <a:solidFill>
                  <a:srgbClr val="6B7889"/>
                </a:solidFill>
              </a:rPr>
              <a:t>成本核算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254BF3-7B01-44E5-8FD9-2B635870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仅记录数量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B9B345-6080-4DC9-A5E0-3B5F5BEF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E"/>
                </a:solidFill>
              </a:defRPr>
            </a:pPr>
            <a:r>
              <a:rPr sz="1650" b="1">
                <a:solidFill>
                  <a:srgbClr val="16202E"/>
                </a:solidFill>
              </a:rPr>
              <a:t>移动加权平均成本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9AF4CC-9A9E-4336-AB67-D091A7E2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34050"/>
            <a:ext cx="1013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B5AA7"/>
                </a:solidFill>
              </a:defRPr>
            </a:pPr>
            <a:r>
              <a:rPr sz="1650" b="1">
                <a:solidFill>
                  <a:srgbClr val="2B5AA7"/>
                </a:solidFill>
              </a:rPr>
              <a:t>研究意义：把开源方案缺失的补货决策与成本核算补齐，形成可落地、可演示的改进方案。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C7907C-BED8-4630-8109-0BD5509D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040693-9D4C-456F-B36A-FFF62423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60BC80-3F03-4B2E-B900-2B1887C1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04 / 18</a:t>
            </a:r>
          </a:p>
        </p:txBody>
      </p:sp>
    </p:spTree>
    <p:extLst>
      <p:ext uri="{BB962C8B-B14F-4D97-AF65-F5344CB8AC3E}">
        <p14:creationId xmlns:p14="http://schemas.microsoft.com/office/powerpoint/2010/main" val="708801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4FC322-F41B-4C9E-A4BB-615D7D5C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ECE39-5D1C-4A6F-9D22-4A0CE833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70403-FFBB-406F-9B87-5723DF3E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目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标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概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EBDBA-6A9E-4C86-9019-7F9B014D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93347-5FE6-4933-8AC3-8F5BB670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E04BD-90A7-48AC-A3EE-9C592CDF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cd1e7c55945a3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72D5FACE-29E7-4A19-915B-81666994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目标概述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245008F-E357-4EC3-9284-DAF071B9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覆盖三类角色、八个业务模块的完整库存闭环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2A19F-CF28-4081-9B69-36854551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52903-E30A-4343-BF34-FC381968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5F872-A9D7-4F1C-8F89-9F37AF47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47850"/>
            <a:ext cx="1013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建设目标：让每一次库存变动可追溯，让每一次补货有依据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2C4FA-454C-48DF-AC48-E55428F2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三类角色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6D4A9-3C43-49CB-8047-2F8779C6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813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54AA7-4888-4BF3-919F-CB23771E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71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864"/>
                </a:solidFill>
              </a:defRPr>
            </a:pPr>
            <a:r>
              <a:rPr sz="1800" b="1">
                <a:solidFill>
                  <a:srgbClr val="1F3864"/>
                </a:solidFill>
              </a:rPr>
              <a:t>系统管理员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000F8-0D9B-4DAC-979F-3DF32A3B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基础数据、用户权限、操作日志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51789-24BC-4EE5-813D-FB0520F5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864"/>
                </a:solidFill>
              </a:defRPr>
            </a:pPr>
            <a:r>
              <a:rPr sz="1800" b="1">
                <a:solidFill>
                  <a:srgbClr val="1F3864"/>
                </a:solidFill>
              </a:rPr>
              <a:t>仓库主管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2D3A1-5EF1-4A7E-8B0D-C86D3D01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单据审核、补货审批、报表分析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A2E0E-C306-4635-BA04-99262A7C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00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864"/>
                </a:solidFill>
              </a:defRPr>
            </a:pPr>
            <a:r>
              <a:rPr sz="1800" b="1">
                <a:solidFill>
                  <a:srgbClr val="1F3864"/>
                </a:solidFill>
              </a:rPr>
              <a:t>仓管员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E188E-6832-4DB3-868F-34595767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625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出入库、调拨、盘点与查询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43C7A9-BBB9-4A2D-A2E3-90966381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62200"/>
            <a:ext cx="622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八个业务模块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FC538-C1DD-4148-ABE8-36CB57FC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81300"/>
            <a:ext cx="6229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965FD-1D25-4B9B-91FF-014BF71A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90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864"/>
                </a:solidFill>
              </a:defRPr>
            </a:pPr>
            <a:r>
              <a:rPr sz="1650" b="1">
                <a:solidFill>
                  <a:srgbClr val="1F3864"/>
                </a:solidFill>
              </a:rPr>
              <a:t>基础数据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ACABA-1817-4CC4-947E-FFA04D13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14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物料 / 仓库 / 供应商 / 客户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BAF29D-2789-47F9-BABF-66FD505B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90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864"/>
                </a:solidFill>
              </a:defRPr>
            </a:pPr>
            <a:r>
              <a:rPr sz="1650" b="1">
                <a:solidFill>
                  <a:srgbClr val="1F3864"/>
                </a:solidFill>
              </a:rPr>
              <a:t>入库管理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08AAC-5541-4854-8F56-88A8F8FB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采购 / 退货入库与审核过账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867708-BC5A-429F-A64C-29F43C18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71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864"/>
                </a:solidFill>
              </a:defRPr>
            </a:pPr>
            <a:r>
              <a:rPr sz="1650" b="1">
                <a:solidFill>
                  <a:srgbClr val="1F3864"/>
                </a:solidFill>
              </a:rPr>
              <a:t>出库管理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DD955E-3EF6-46B1-B803-E9D53EBA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95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销售 / 领用出库与库存校验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FC6D9E-B8C9-4DC4-8C9C-4D319E59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864"/>
                </a:solidFill>
              </a:defRPr>
            </a:pPr>
            <a:r>
              <a:rPr sz="1650" b="1">
                <a:solidFill>
                  <a:srgbClr val="1F3864"/>
                </a:solidFill>
              </a:rPr>
              <a:t>库存调拨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E6FD7D-BDE3-4D49-A46F-FFE0644D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仓库间转移，同事务一出一入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396D51-FFB1-4AC2-B8AB-7D404A2E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52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864"/>
                </a:solidFill>
              </a:defRPr>
            </a:pPr>
            <a:r>
              <a:rPr sz="1650" b="1">
                <a:solidFill>
                  <a:srgbClr val="1F3864"/>
                </a:solidFill>
              </a:rPr>
              <a:t>库存盘点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449853-D174-47F1-A8ED-0770D5BF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768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实盘录入与盈亏自动调整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52BE7C-921F-4717-8337-AE07CE22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52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864"/>
                </a:solidFill>
              </a:defRPr>
            </a:pPr>
            <a:r>
              <a:rPr sz="1650" b="1">
                <a:solidFill>
                  <a:srgbClr val="1F3864"/>
                </a:solidFill>
              </a:rPr>
              <a:t>库存查询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6C74E9-F1C5-4242-BEFA-76113854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768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实时库存、流水台账、多维汇总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C62525-4403-4690-A564-A1DB56A3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34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864"/>
                </a:solidFill>
              </a:defRPr>
            </a:pPr>
            <a:r>
              <a:rPr sz="1650" b="1">
                <a:solidFill>
                  <a:srgbClr val="1F3864"/>
                </a:solidFill>
              </a:rPr>
              <a:t>智能补货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BAA706-87E7-44BF-BC6F-244267A6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657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补货建议与三类库存预警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89B739-8D52-481F-83B4-793CA66C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864"/>
                </a:solidFill>
              </a:defRPr>
            </a:pPr>
            <a:r>
              <a:rPr sz="1650" b="1">
                <a:solidFill>
                  <a:srgbClr val="1F3864"/>
                </a:solidFill>
              </a:rPr>
              <a:t>统计分析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20C1A6-6857-416D-998C-8DACC3CF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657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看板、ABC 分类、周转率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D78746-571A-40EA-B735-283FFA0E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D71FF1-E508-40F0-A610-5F61CAC4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8FDD67-9059-41AB-9FA6-95B520AE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05 / 18</a:t>
            </a:r>
          </a:p>
        </p:txBody>
      </p:sp>
    </p:spTree>
    <p:extLst>
      <p:ext uri="{BB962C8B-B14F-4D97-AF65-F5344CB8AC3E}">
        <p14:creationId xmlns:p14="http://schemas.microsoft.com/office/powerpoint/2010/main" val="1577025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03B266-171E-4268-AF6F-9A4F27D3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8F1BD-63C5-43B0-8124-2597171D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A8657-9C82-42AB-BC98-3A8AF79F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技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术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C9433-AB37-41F1-9267-6B1DBA56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97DBB-353D-4997-B0E8-15FC0889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07042-E774-4CE9-93C0-69A86EEB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846def65d4a88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4D4D4A6C-6C45-4F79-9915-2CBAF959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技术栈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A174B35-8573-499E-A7DB-CCF8218A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选成熟稳定的技术栈，把复杂度留给业务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6438C-BAB7-4088-9B6A-3225B026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7373D-5C0B-4ED3-91AD-F293A1C0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71E27-3C4C-46E7-9FDE-C72E2FA4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71650"/>
            <a:ext cx="1013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受本机 JDK 11 限制，后端选用 Spring Boot 2.7 而非 3.x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06DA7-0877-41DC-8D08-34389467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B7889"/>
                </a:solidFill>
              </a:defRPr>
            </a:pPr>
            <a:r>
              <a:rPr sz="1650" b="1">
                <a:solidFill>
                  <a:srgbClr val="6B7889"/>
                </a:solidFill>
              </a:rPr>
              <a:t>后端框架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26C5B-D765-406A-BD98-19FE8521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02E"/>
                </a:solidFill>
              </a:defRPr>
            </a:pPr>
            <a:r>
              <a:rPr sz="1800" b="1">
                <a:solidFill>
                  <a:srgbClr val="16202E"/>
                </a:solidFill>
              </a:rPr>
              <a:t>Spring Boot 2.7 + MyBatis-Plus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9E478-2A7C-4CFA-AE20-1DCFD799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853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约定优于配置，单表增删改查与分页开箱即用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AFD9F-D038-486F-982D-D4F3F9D5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670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34431-ECB0-4024-B8FF-5DC9344D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B7889"/>
                </a:solidFill>
              </a:defRPr>
            </a:pPr>
            <a:r>
              <a:rPr sz="1650" b="1">
                <a:solidFill>
                  <a:srgbClr val="6B7889"/>
                </a:solidFill>
              </a:rPr>
              <a:t>前端框架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42D8B-5947-4A73-8C6D-ED0B0478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766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02E"/>
                </a:solidFill>
              </a:defRPr>
            </a:pPr>
            <a:r>
              <a:rPr sz="1800" b="1">
                <a:solidFill>
                  <a:srgbClr val="16202E"/>
                </a:solidFill>
              </a:rPr>
              <a:t>Vue 3 + Element Plus + Pinia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3F81A-2A46-4544-BBED-EC8ED170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853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组合式 API，组件生态成熟，开发效率高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B6355-4DD6-4CAD-B756-5F8F6E81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2EA7F-36BC-48A9-880A-3920F55E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67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B7889"/>
                </a:solidFill>
              </a:defRPr>
            </a:pPr>
            <a:r>
              <a:rPr sz="1650" b="1">
                <a:solidFill>
                  <a:srgbClr val="6B7889"/>
                </a:solidFill>
              </a:rPr>
              <a:t>数据库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7B9863-9B6C-41FF-A24A-7732460F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291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02E"/>
                </a:solidFill>
              </a:defRPr>
            </a:pPr>
            <a:r>
              <a:rPr sz="1800" b="1">
                <a:solidFill>
                  <a:srgbClr val="16202E"/>
                </a:solidFill>
              </a:rPr>
              <a:t>MySQL 5.7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B615A-1A6E-4363-AD1B-DC21D991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0100"/>
            <a:ext cx="853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兼容性好、部署成本低，未使用 8.0 专有语法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276BD-AAE2-433B-A7AC-E2D344EB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720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AA7F8F-B394-4B73-AD7D-A401EE01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19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B7889"/>
                </a:solidFill>
              </a:defRPr>
            </a:pPr>
            <a:r>
              <a:rPr sz="1650" b="1">
                <a:solidFill>
                  <a:srgbClr val="6B7889"/>
                </a:solidFill>
              </a:rPr>
              <a:t>安全认证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EF3F0A-F6B0-42E5-AE82-6C1D0D94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816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02E"/>
                </a:solidFill>
              </a:defRPr>
            </a:pPr>
            <a:r>
              <a:rPr sz="1800" b="1">
                <a:solidFill>
                  <a:srgbClr val="16202E"/>
                </a:solidFill>
              </a:rPr>
              <a:t>JWT + BCrypt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CD49C2-F001-4407-B455-297E580F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853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无状态鉴权，密码密文存储，不落明文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B5E05F-A7EF-47DE-9C24-531265C9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5B5A9C-6171-4FB2-9543-66431B0B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7AC99F-513A-4A60-9CD3-2060C66D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06 / 18</a:t>
            </a:r>
          </a:p>
        </p:txBody>
      </p:sp>
    </p:spTree>
    <p:extLst>
      <p:ext uri="{BB962C8B-B14F-4D97-AF65-F5344CB8AC3E}">
        <p14:creationId xmlns:p14="http://schemas.microsoft.com/office/powerpoint/2010/main" val="2307786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619EE0-7EC6-4589-9B27-48DB0DAF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E62F4-69B1-4FFB-9ECA-0178E222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1D22C-4278-4406-BDB6-9035866A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系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统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架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DC161-0F9C-45DD-9726-F41135DE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C6DF6-81F8-4DE7-BEA8-25054364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FC9B2-BEE3-41F0-8BEB-A91289AE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3429e80d5492b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4F5D6925-676C-4F97-88E8-042C615A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系统架构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0C2D0AE-E74E-49A8-AE50-A98B0DF1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三层架构，职责边界清晰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83749-992A-4940-A71C-2E462E07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08A66-FE75-4277-AD53-72BE700F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B2718-B671-47AD-ADE2-F7B4F2DA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66900"/>
            <a:ext cx="619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1F818-1037-4909-87E1-87E1ABE8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669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31AA8-9779-4AAF-8528-15E5ECC3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76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02E"/>
                </a:solidFill>
              </a:defRPr>
            </a:pPr>
            <a:r>
              <a:rPr sz="1800" b="1">
                <a:solidFill>
                  <a:srgbClr val="16202E"/>
                </a:solidFill>
              </a:rPr>
              <a:t>表现层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C71D2-F29E-4CEB-80FB-45E6641F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95500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Vue 3 + Element Plus，18 个业务页面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20205-1DC4-4282-8688-D7E103C9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619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748A0-1351-499D-A719-4C67E45E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F1E5F-0B0D-45C1-A03A-8D676415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718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02E"/>
                </a:solidFill>
              </a:defRPr>
            </a:pPr>
            <a:r>
              <a:rPr sz="1800" b="1">
                <a:solidFill>
                  <a:srgbClr val="16202E"/>
                </a:solidFill>
              </a:rPr>
              <a:t>接口层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C14EB-4D4D-46E5-8543-678ECC80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90850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RESTful API，JWT 登录拦截与统一响应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6B276-048C-415E-9D73-122EB82E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57600"/>
            <a:ext cx="619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9FD38-A83E-45F4-9391-76D54F21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576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2E2BC-6043-4B30-BDA0-037D2BD9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671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02E"/>
                </a:solidFill>
              </a:defRPr>
            </a:pPr>
            <a:r>
              <a:rPr sz="1800" b="1">
                <a:solidFill>
                  <a:srgbClr val="16202E"/>
                </a:solidFill>
              </a:rPr>
              <a:t>业务层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F8847-88B1-4263-A24F-4353AA5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出入库 / 调拨 / 盘点 / 补货 / 预警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2858E-14C2-4854-A269-AE119AE6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619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EA5B2-FDF6-49D4-9218-C83BF2EA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5EB3E-CFE7-4D0B-A1DB-1F1C3D5C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62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02E"/>
                </a:solidFill>
              </a:defRPr>
            </a:pPr>
            <a:r>
              <a:rPr sz="1800" b="1">
                <a:solidFill>
                  <a:srgbClr val="16202E"/>
                </a:solidFill>
              </a:rPr>
              <a:t>数据层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55C44-DF0D-469F-B8D7-EF63F9BD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81550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MyBatis-Plus + MySQL，24 张数据表</a:t>
            </a:r>
          </a:p>
        </p:txBody>
      </p:sp>
      <p:cxnSp>
        <p:nvCxnSpPr>
          <p:cNvPr id="70" name=""/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4543425" y="25908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0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4543425" y="34861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0"/>
            </a:solidFill>
            <a:prstDash val="soli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20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543425" y="43815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0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6ACA1A-7677-4EF3-9CAF-4AEEA5C2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66900"/>
            <a:ext cx="346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02E"/>
                </a:solidFill>
              </a:defRPr>
            </a:pPr>
            <a:r>
              <a:rPr sz="2400" b="1">
                <a:solidFill>
                  <a:srgbClr val="16202E"/>
                </a:solidFill>
              </a:rPr>
              <a:t>横切关注点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518435-1D02-4C47-A5DE-C734EBD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346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004A8F-3FB8-4A92-910C-7CA86C2A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JWT 无状态鉴权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2C0B69-46A0-4AF1-AE75-D3721315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全局异常统一处理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7756E9-621B-4444-AEAD-271B15C0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9565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操作日志留痕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5AACB0-6C5E-4740-998B-F6DE054C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逻辑删除与字段自动填充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93C08D-18CA-4E9C-B861-8E3A7FE7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05300"/>
            <a:ext cx="346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02E"/>
                </a:solidFill>
              </a:defRPr>
            </a:pPr>
            <a:r>
              <a:rPr sz="2400" b="1">
                <a:solidFill>
                  <a:srgbClr val="16202E"/>
                </a:solidFill>
              </a:rPr>
              <a:t>部署形态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12ECF4-B231-4857-84E4-EC923D60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346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5B5E08-A5C1-41D4-9D33-F0E5C955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33950"/>
            <a:ext cx="346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前后端分离，单机部署即可完整运行与演示。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E78520-C175-463A-BB92-5F6B89B3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9924D6-19C9-405C-9F23-9517A860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F917F7-5D1F-417F-9AE8-A32A2EE8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16437292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855EC6-E53C-46A2-B24E-8233C534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78A91-1D2A-424D-9240-DF31C55B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272DD-4EF7-4B63-A294-136F0A29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数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据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71EBB-DDC7-4607-8CC1-95BD68EA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7C650-FC27-4F29-8021-577D1131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E1CF1-FA46-4043-820E-95266829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a264539e14947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C20A0A2-5FC6-481B-ACA8-34C0ECF5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数据库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7AF12E9-F758-4ED0-9FA5-BB4C365D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24 张表支撑完整业务闭环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9A857-FA90-4D6E-8931-8F1C124D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188B3-68E4-4FA1-B66F-5794B46A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4097B-B2AD-4057-B424-6EE0616E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478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3864"/>
                </a:solidFill>
              </a:defRPr>
            </a:pPr>
            <a:r>
              <a:rPr sz="2700" b="1">
                <a:solidFill>
                  <a:srgbClr val="1F3864"/>
                </a:solidFill>
              </a:rPr>
              <a:t>5 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59E8E-5806-480C-9049-9876D52B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系统管理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CDBA8-C858-45F6-ACB6-E32E0919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812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9F7E9-DA1E-4B2B-8C90-74BE4941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3864"/>
                </a:solidFill>
              </a:defRPr>
            </a:pPr>
            <a:r>
              <a:rPr sz="2700" b="1">
                <a:solidFill>
                  <a:srgbClr val="1F3864"/>
                </a:solidFill>
              </a:rPr>
              <a:t>6 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3BD16-F235-479F-BBF6-735C2351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62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基础数据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1C5B67-DBBE-42E1-BB01-681DAB20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B8245-DC5A-4231-8158-0C1B6C2B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478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3864"/>
                </a:solidFill>
              </a:defRPr>
            </a:pPr>
            <a:r>
              <a:rPr sz="2700" b="1">
                <a:solidFill>
                  <a:srgbClr val="1F3864"/>
                </a:solidFill>
              </a:rPr>
              <a:t>13 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77ED4-9538-44AE-9310-D31103AC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62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库存业务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8A32E-DCDC-47D8-857C-EABB6B52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5EF27-2233-4A46-B377-7AA50F11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核心数据关系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4EC39-3B76-4562-9BC0-44E682CA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6DB3B-C443-489D-B289-68652C83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12565-98C7-45DB-AB31-F4F0499B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202E"/>
                </a:solidFill>
              </a:defRPr>
            </a:pPr>
            <a:r>
              <a:rPr sz="1650" b="1">
                <a:solidFill>
                  <a:srgbClr val="16202E"/>
                </a:solidFill>
              </a:rPr>
              <a:t>物料档案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7779F1-3DC2-4AB3-80D8-99722F00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2425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8EB3E-4927-4B6D-BF04-8098859E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14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202E"/>
                </a:solidFill>
              </a:defRPr>
            </a:pPr>
            <a:r>
              <a:rPr sz="1650" b="1">
                <a:solidFill>
                  <a:srgbClr val="16202E"/>
                </a:solidFill>
              </a:rPr>
              <a:t>库存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D2F8F-1AD4-475C-9513-B9280158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2425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411269-6FE0-441C-9324-18A5CD6A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202E"/>
                </a:solidFill>
              </a:defRPr>
            </a:pPr>
            <a:r>
              <a:rPr sz="1650" b="1">
                <a:solidFill>
                  <a:srgbClr val="16202E"/>
                </a:solidFill>
              </a:rPr>
              <a:t>仓库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B50B46-EEB1-4930-8588-E823DFAA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5775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3EDF6-CEE2-4F9A-8367-6F1BDF33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48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202E"/>
                </a:solidFill>
              </a:defRPr>
            </a:pPr>
            <a:r>
              <a:rPr sz="1650" b="1">
                <a:solidFill>
                  <a:srgbClr val="16202E"/>
                </a:solidFill>
              </a:rPr>
              <a:t>库存流水</a:t>
            </a:r>
          </a:p>
        </p:txBody>
      </p:sp>
      <p:cxnSp>
        <p:nvCxnSpPr>
          <p:cNvPr id="76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067050" y="38671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0"/>
            </a:solidFill>
            <a:prstDash val="solid"/>
            <a:tailEnd type="arrow" w="sm" len="sm"/>
          </a:ln>
        </p:spPr>
      </p:cxnSp>
      <p:cxnSp>
        <p:nvCxnSpPr>
          <p:cNvPr id="77" name=""/>
          <p:cNvCxnSpPr>
            <a:stCxn xmlns:a="http://schemas.openxmlformats.org/drawingml/2006/main" id="27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5410200" y="38671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0"/>
            </a:solidFill>
            <a:prstDash val="solid"/>
            <a:tailEnd type="arrow" w="sm" len="sm"/>
          </a:ln>
        </p:spPr>
      </p:cxnSp>
      <p:cxnSp>
        <p:nvCxnSpPr>
          <p:cNvPr id="78" name=""/>
          <p:cNvCxnSpPr>
            <a:stCxn xmlns:a="http://schemas.openxmlformats.org/drawingml/2006/main" id="25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4600575" y="42100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0"/>
            </a:solidFill>
            <a:prstDash val="solid"/>
            <a:tailEnd type="arrow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6EF17A-3EEC-41D1-B16F-AF64AB02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766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1:N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405044-D874-4AFD-B127-B38BE18E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766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N:1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687F8C-0D11-41E7-B776-48A99ECC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577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1:N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C2D4B3-2219-4859-A89D-ECAB282C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909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单据类表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F2B198-F131-400D-991E-223B8D58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327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FD42C4-E41D-45FD-B691-4EDD9304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62400"/>
            <a:ext cx="327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入库单 / 出库单 / 调拨单 / 盘点单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AC91A1-4050-4D38-A2B3-5E36F71A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52950"/>
            <a:ext cx="327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均为「主表 + 明细表」结构，主表 1 : N 明细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1DCBB6-C405-410F-8726-61DC2FDA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43500"/>
            <a:ext cx="327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审核通过后写入库存与库存流水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F48BDC-313D-4C47-B31E-413BA4C3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197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唯一键：仓库 + 物料 + 批次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040F2D-F0F0-4768-B157-BD7FF004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F5B518-A167-454C-AE2A-8126595B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22CBA3-6926-4CDE-83C0-873BE8CB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6361496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8DD983-32AE-4AE1-BAAC-5F3A855C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34685-D72A-4A91-9CC0-FCA00E93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B1E60-0DF0-4A2C-B12B-9E56AC5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数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据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258BE-D53F-43DA-A41A-090D0FFF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F4B6A-B6DC-4E25-8FE8-B0274D3E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E5967-DE30-4728-9557-300B014B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39b9f96424cae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62E1EDA-3384-48FE-8F34-0BBA46C3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数据库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FE2A153-89B2-4BAC-98CD-60816EC5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核心表字段设计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B1676-597D-419D-A85B-672FA5D9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44B37-743E-4F2A-A7EC-CDB18AE9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77FDB-64F5-454A-8E92-0CD4D321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621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864"/>
                </a:solidFill>
              </a:defRPr>
            </a:pPr>
            <a:r>
              <a:rPr sz="1650" b="1">
                <a:solidFill>
                  <a:srgbClr val="1F3864"/>
                </a:solidFill>
              </a:rPr>
              <a:t>biz_stock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08ABA-0E29-4E43-AA40-4A445C57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669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库存表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03472-7FDF-4CED-814F-61DAD8D6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861E3-F4C2-4F9B-B87E-C0634E13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warehouse_id　所属仓库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DB250-A65F-41F7-97B0-A70E9BFE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81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material_id　物料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BA3B1-133D-4152-A7E1-6B3A6140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62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batch_no　批次号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8F65E-542E-4B5B-AE4D-ED95D5CF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quantity　库存数量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1975F-CEDB-4E38-B8C6-67BE3EC9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locked_qty　锁定数量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4CCB8-6D8F-4E73-AB52-9D7086F2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avg_cost　平均成本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FCC81-24B3-4BA0-B502-1076576D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86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expire_date　有效期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FEBA3-5223-44D6-89D2-EFEF5ABA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621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864"/>
                </a:solidFill>
              </a:defRPr>
            </a:pPr>
            <a:r>
              <a:rPr sz="1650" b="1">
                <a:solidFill>
                  <a:srgbClr val="1F3864"/>
                </a:solidFill>
              </a:rPr>
              <a:t>biz_inbound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1C6B3-5922-4469-8EA0-6A40EC2D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入库单表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541D1-8EE6-4D55-98AE-80E495A2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7B3E58-D16D-402C-A6C1-CF856633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inbound_no　单据编号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E8844-44E4-47FD-AE6E-03FD01FE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inbound_type　入库类型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E33698-E8AA-4ABE-940E-68E6960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62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warehouse_id　入库仓库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8AF6E3-E00F-41FC-BB43-93CB6D67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supplier_id　供应商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15714D-274D-4C60-843D-AA72C3DD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total_amount　总金额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6E5E51-B255-42C1-B32F-02EFE6CD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05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status　单据状态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C63351-6A50-4117-AB0B-F28B364E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86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audit_user　审核人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37A593-3119-44D3-AC4C-3D002805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864"/>
                </a:solidFill>
              </a:defRPr>
            </a:pPr>
            <a:r>
              <a:rPr sz="1650" b="1">
                <a:solidFill>
                  <a:srgbClr val="1F3864"/>
                </a:solidFill>
              </a:rPr>
              <a:t>biz_stock_flow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5FFC98-46D2-434E-9324-8D883027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库存流水表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C5D963-E2E9-4BE1-B584-194B49D5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292171-B9BA-4BD6-8EDC-8E7FD018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flow_type　流水类型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07B4BE-0AF8-4078-B864-2F15D203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change_qty　变动数量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62364E-3A64-4725-811A-B95283AF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2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before_qty　变动前数量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20605F-12EE-45C2-957A-B04C3E17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after_qty　变动后数量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C09E77-9213-43A4-A6B1-01CE932B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24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ref_no　关联单号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6B72F1-C29A-4CB4-9B88-0A89557A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05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operator　操作人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648FF3-094E-4913-B93D-95F46D5D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863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remark　备注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35F838-5DDF-4F56-A612-148FBE6E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76900"/>
            <a:ext cx="1013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全部 24 张表均包含自增主键、创建时间、更新时间和逻辑删除标记。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3FC2FE-9A49-45E4-B2D9-DC18DEA3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089A4C-3979-4DDA-A9CF-AD5A7FAB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A1F022-D0D9-40C5-B734-97144F3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09 / 18</a:t>
            </a:r>
          </a:p>
        </p:txBody>
      </p:sp>
    </p:spTree>
    <p:extLst>
      <p:ext uri="{BB962C8B-B14F-4D97-AF65-F5344CB8AC3E}">
        <p14:creationId xmlns:p14="http://schemas.microsoft.com/office/powerpoint/2010/main" val="15343667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EFF7CA-10AB-4B56-ABD0-CD464F8A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0CE6A-22A9-4189-A574-14133D83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C630E-FF46-47FB-A195-3FD74274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功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能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展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5A457-FF49-4E2A-8CD9-2622DAFF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91BA1-9E2D-4416-A825-DAB1B85A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1451A-3774-4E2C-88F5-036C13E9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d1413a71245b3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2CBD219-2129-4CED-A6DA-B225BBB0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功能展示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3D991E5-1B9B-4465-8583-4866CA61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首页看板：一屏掌握库存全貌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9C55D-0217-42A6-B985-FFCDD6A8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BE80E-FBC7-49F6-A5A5-43573EB1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9dea5173d424f"/>
          <a:srcRect xmlns:a="http://schemas.openxmlformats.org/drawingml/2006/main" l="0" t="67" r="0" b="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1924050"/>
            <a:ext cx="6324600" cy="3552825"/>
          </a:xfrm>
          <a:prstGeom xmlns:a="http://schemas.openxmlformats.org/drawingml/2006/main" prst="roundRect">
            <a:avLst>
              <a:gd name="adj" fmla="val 214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6A9B9-9D2C-44B4-B968-F2384C14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看板能力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663AE-67E2-4AB9-BF40-7B219F59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B0B11-415C-4075-8A5B-A01EDBDC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3365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八项关键指标：物料数、库存金额、低库存、预警、补货建议等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53EA0-7333-46A2-A13C-2FAA2DBF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卡片可点击直接下钻到对应业务模块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24CD2-C44B-46D6-9519-87A37395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9575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出入库趋势与 ABC 分类金额分布可视化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63E3E-ADBC-4DB7-A98E-F2F64B1C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低库存与临期批次待办直接列在首页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54747-6F78-4A3F-8995-67922F67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1975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截图取自实际运行的系统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A4B20-0F30-486A-A221-9135A282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B4D73A-FF25-420D-AAA2-3B2FB326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D599FC-A72F-4A98-BAD4-703EA090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8332159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12438C-F47F-4CDB-BDDC-CBFCE9DE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C7548-4E42-49D9-8312-7C90469D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20C2C-D375-4546-9439-DC07A7A2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功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能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展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E77D1-8776-428E-A6E2-6BA3FF79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B43E3-BC7B-40E9-9ADC-D0C1682F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7E4D6-C5FF-4D95-BFF8-6FA13D98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8b5130006469e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8B68A0F-F5C2-421C-BA73-AD0C7E6C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功能展示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A785B77-8F81-49D5-A2DC-4327EA1B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入库管理：单据录入、审核过账与打印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1AD75-39CB-401B-9232-268A636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59734-9BF4-4F64-B310-9C2AA7EA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0681cac4049ce"/>
          <a:srcRect xmlns:a="http://schemas.openxmlformats.org/drawingml/2006/main" l="36" t="0" r="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2038350"/>
            <a:ext cx="5905500" cy="3324225"/>
          </a:xfrm>
          <a:prstGeom xmlns:a="http://schemas.openxmlformats.org/drawingml/2006/main" prst="roundRect">
            <a:avLst>
              <a:gd name="adj" fmla="val 229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142EF-D1FC-4357-9FE4-03A84AE7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673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支持采购 / 退货 / 其他入库，明细可维护批次与有效期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EA377-317B-4C06-92DB-2DFAF425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单据状态流转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65F9B-738F-4DA0-A4C2-7D4E84A6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373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A4188-7FA0-4AB0-B7C4-5272D73D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6E027-8E23-4C48-8175-3D36BAED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717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202E"/>
                </a:solidFill>
              </a:defRPr>
            </a:pPr>
            <a:r>
              <a:rPr sz="1575" b="1">
                <a:solidFill>
                  <a:srgbClr val="16202E"/>
                </a:solidFill>
              </a:rPr>
              <a:t>草稿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54DAB-0D14-42E1-A1EB-51D5E9A3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099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0DCA7-7ACE-4716-9196-18A1D259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147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202E"/>
                </a:solidFill>
              </a:defRPr>
            </a:pPr>
            <a:r>
              <a:rPr sz="1575" b="1">
                <a:solidFill>
                  <a:srgbClr val="16202E"/>
                </a:solidFill>
              </a:rPr>
              <a:t>待审核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9184C-4491-4AD9-AA70-5B80AE8C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529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2B63F-D49D-4B19-9DB2-DE70B1CB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576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已过账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09130-8309-4572-8D92-E889CAC5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099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CBD9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02E56-2EBA-4CA1-8A5E-31DC2E0A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147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2F2D"/>
                </a:solidFill>
              </a:defRPr>
            </a:pPr>
            <a:r>
              <a:rPr sz="1575" b="1">
                <a:solidFill>
                  <a:srgbClr val="9F2F2D"/>
                </a:solidFill>
              </a:rPr>
              <a:t>已驳回</a:t>
            </a:r>
          </a:p>
        </p:txBody>
      </p:sp>
      <p:cxnSp>
        <p:nvCxnSpPr>
          <p:cNvPr id="54" name=""/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8562975" y="31813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0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562975" y="39243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0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77350" y="3667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0"/>
            </a:solidFill>
            <a:prstDash val="soli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3BE00F-710D-46EB-9003-E73E0545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00600"/>
            <a:ext cx="3733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只有审核通过才会写入库存与流水；已过账单据不可删除，驳回后可修改再提交。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A368CA-0662-42D8-B342-2A55018B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9190E-1256-4503-A586-63DB697D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22BD65-657F-4912-A00C-3A0BE450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3245251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1DAAF-64E9-442B-92E8-2A859A8F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AB372-E5A6-4EF5-B858-C9F50AF3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D9D7F-C66C-483C-85B0-19D24ACA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功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能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展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8D804-CC33-4332-9F71-3BFF5E95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23304-EA6E-48F5-9F39-C7129967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5DD9F-9998-46AB-8C4A-09DF225D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5e08e8f534fee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D3ECC318-B090-44F8-9BBD-AF683BBF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功能展示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91E76CF-6CD1-440E-9579-9A45B3E0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出库管理：审核前校验库存，杜绝负库存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283DA-19B1-45A6-B706-E2FB9FDF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3222C-A257-408D-A22E-CAF38352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2b38eabf549f5"/>
          <a:srcRect xmlns:a="http://schemas.openxmlformats.org/drawingml/2006/main" l="32" t="0" r="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1924050"/>
            <a:ext cx="6667500" cy="3752850"/>
          </a:xfrm>
          <a:prstGeom xmlns:a="http://schemas.openxmlformats.org/drawingml/2006/main" prst="roundRect">
            <a:avLst>
              <a:gd name="adj" fmla="val 203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FD60B-CDE5-4353-AD7E-BABC0EA1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2405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E"/>
                </a:solidFill>
              </a:defRPr>
            </a:pPr>
            <a:r>
              <a:rPr sz="2100" b="1">
                <a:solidFill>
                  <a:srgbClr val="16202E"/>
                </a:solidFill>
              </a:rPr>
              <a:t>关键校验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D24DD-E30B-4776-AAC9-3FB2296C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62200"/>
            <a:ext cx="293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519C7-2A85-4CC6-85EF-14BCD585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5270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审核前逐条校验可用库存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DDE5D-3C05-4EFA-AA9E-4CD8C6E0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库存不足直接拦截并提示缺口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5DA38-29F8-4C21-A01F-279A746A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1480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扣减走条件更新，并发下不会超卖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656D5-DB50-4AA6-9F67-6B8A4062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958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过账后自动写入库存流水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5F02F-0A84-4215-898A-4336413D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72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出库单支持销售 / 领用 / 其他三类，与入库共用同一套审核与打印流程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99A56-8424-40A1-ACF4-34CAD36D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C05F9-7BF4-4E3D-B0E3-B8681D0B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1F2F8-A8CB-4469-9025-880ECF60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5164030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D56A4-A456-4938-A108-4AF79463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273F0-6FC4-4870-84A5-30922060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8A9F8-7703-4D26-9286-C6D728FF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功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能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展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1FEE0-F518-4D0B-8BE2-6BF84AB4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08679-C3A8-4954-A0A3-26977121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EC597-2D81-4FC0-A517-AC75CE01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cc7453a5847fe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498DDA12-AF47-465E-856E-C5A8D0FB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功能展示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0313E35-D79A-4B38-A506-A30671D7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库存查询与智能补货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06737-F70F-48E8-8BB0-3235FD72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16356-500C-48BE-A608-A870AF46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b118ba75648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1981200"/>
            <a:ext cx="4876800" cy="27432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1a1c9397b47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981200"/>
            <a:ext cx="4876800" cy="27432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FED18-128C-454A-8C60-129F6694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1490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864"/>
                </a:solidFill>
              </a:defRPr>
            </a:pPr>
            <a:r>
              <a:rPr sz="1800" b="1">
                <a:solidFill>
                  <a:srgbClr val="1F3864"/>
                </a:solidFill>
              </a:rPr>
              <a:t>库存查询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24BC9-2174-4AF4-9943-A8F79DB5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5780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支持明细、按物料汇总、按仓库汇总三个维度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36649-FE50-46FF-8965-799F587F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864"/>
                </a:solidFill>
              </a:defRPr>
            </a:pPr>
            <a:r>
              <a:rPr sz="1800" b="1">
                <a:solidFill>
                  <a:srgbClr val="1F3864"/>
                </a:solidFill>
              </a:rPr>
              <a:t>智能补货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FAB43-9805-4E70-BC0E-6B0CF063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5780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一键生成建议，标注 ABC 类别与紧急程度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A014F-B306-4B6F-8FDC-4B220C92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15000"/>
            <a:ext cx="1013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库存流水记录每一次变动的前后数量，出入库、调拨、盘点均可追溯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5DAC9-7BCC-47E9-B33A-075B2321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86896-EA3F-486E-9F8A-A592E911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753D3-8FD1-43B8-9309-99D9FB69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6376573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6D06A4-A144-4A2A-8AF0-49F5F921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CBAFE-1E9C-41FE-BA93-9C36D4A3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F229D-1C59-46CC-AD9C-65A7087E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关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键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技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97080-06AA-4A6D-9BEA-556A7D8B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22252-CFE4-4365-8E01-5BA1DCD8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99CC7-43B4-458B-B7CA-31E89FAB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861ee069e4461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4B15EC1-067B-49D7-B0D3-C0ABD708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关键技术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8E22CEC-6B9D-466D-A86F-3F267F9F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难点一：补货量该补多少？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824D7-C44A-4A8A-B52C-202D2956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B9E7A-8CEB-4FDD-9417-81BBDD5C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A9A8E-5DD1-4620-BD2F-12986877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62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02E"/>
                </a:solidFill>
              </a:defRPr>
            </a:pPr>
            <a:r>
              <a:rPr sz="1800" b="1">
                <a:solidFill>
                  <a:srgbClr val="16202E"/>
                </a:solidFill>
              </a:rPr>
              <a:t>安全库存 = max（人工配置值, 平均日耗 × 补货提前期）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FC97E-4EDC-44C8-944A-77F9DB47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812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取经验值与统计值的较大者，避免只凭经验拍阈值。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EBE40-465B-418F-B1CD-02601EE6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D09BD-9B60-4AE4-90CB-75AD8BAF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67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02E"/>
                </a:solidFill>
              </a:defRPr>
            </a:pPr>
            <a:r>
              <a:rPr sz="1800" b="1">
                <a:solidFill>
                  <a:srgbClr val="16202E"/>
                </a:solidFill>
              </a:rPr>
              <a:t>EOQ = √（2 × 年需求量 × 每次订货成本 ÷ 单位年持有成本）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82499-42F3-4B98-82DF-7E66BBBE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按经济订货批量下单，减少频繁采购带来的成本。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00760-E5A5-4E4E-888C-248A1A5E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052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A8D6F-6A96-4F7F-B01A-E44AF8E7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02E"/>
                </a:solidFill>
              </a:defRPr>
            </a:pPr>
            <a:r>
              <a:rPr sz="1800" b="1">
                <a:solidFill>
                  <a:srgbClr val="16202E"/>
                </a:solidFill>
              </a:rPr>
              <a:t>建议补货量 = max（补足到两倍安全库存的缺口, EOQ）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16575-901C-4A9E-ADAB-8811024D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910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兼顾当下缺口与经济批量，结果可直接转为采购计划。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E1A17-A33C-4795-AED4-86DB1A65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62150"/>
            <a:ext cx="40386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BD9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C220F-7AE1-420E-B8BC-7E5853A0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3864"/>
                </a:solidFill>
              </a:defRPr>
            </a:pPr>
            <a:r>
              <a:rPr sz="2400" b="1">
                <a:solidFill>
                  <a:srgbClr val="1F3864"/>
                </a:solidFill>
              </a:rPr>
              <a:t>实测结果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A5A1A-EE2A-435D-9BD1-D896DE18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BFD8B-E26F-4B84-8512-B75E9523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10 种物料生成 4 条补货建议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4DFAD-BFF3-4F04-BAE8-94D08919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86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示例：中性签字笔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B5D2AD-A444-4BD9-BD0B-3B169F9B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48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F2F2D"/>
                </a:solidFill>
              </a:defRPr>
            </a:pPr>
            <a:r>
              <a:rPr sz="1800" b="1">
                <a:solidFill>
                  <a:srgbClr val="9F2F2D"/>
                </a:solidFill>
              </a:rPr>
              <a:t>当前 60 / 安全 100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D0E24A-359E-408E-A015-C7960E26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864"/>
                </a:solidFill>
              </a:defRPr>
            </a:pPr>
            <a:r>
              <a:rPr sz="1800" b="1">
                <a:solidFill>
                  <a:srgbClr val="1F3864"/>
                </a:solidFill>
              </a:rPr>
              <a:t>建议补货 140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16695A-5460-4EEA-8EDE-11179B59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577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建议量同时参考缺口与经济批量，不是简单按「缺多少补多少」。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70C655-4C94-4A11-9645-9B76F4F8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2A2ECA-6499-4B76-928F-8755017E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5F557F-EDF8-43A5-AC90-41CBF5A0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3013366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0D394D-17AC-4CA7-B50B-B719E443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8BF80-98AC-44F0-AE9F-405620AE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53046-03BF-4753-B00D-C664C9F0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关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键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技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9E10F-63EF-4C21-93A3-B5556ACA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3B9A7-FF50-430C-858E-F35EA28D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2B7F7-E3EF-4976-BA22-E4EC0E90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4749585ba4f62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ACB0459-5B89-4681-9CFF-4BA6A663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关键技术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6341B85-7D68-40A2-A2A6-91DE0D9A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难点二：并发过账与批次效期如何不出错？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7BD73-6A03-49AC-9B91-2BB989C6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E2E70-3E78-4361-862B-39F13AE9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B0858-9584-4D65-837D-179C973A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05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3864"/>
                </a:solidFill>
              </a:defRPr>
            </a:pPr>
            <a:r>
              <a:rPr sz="2100" b="1">
                <a:solidFill>
                  <a:srgbClr val="1F3864"/>
                </a:solidFill>
              </a:rPr>
              <a:t>并发过账一致性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8EEDB-5A6A-4955-A368-56590479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89B9C-3AF4-4797-A8C2-4AC7455F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955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先查后改在并发下会丢失更新，两个请求各自判断「够用」，最终可能扣成负数。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27F43-70F6-4C7D-AB3E-0EEC61F1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52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202E"/>
                </a:solidFill>
              </a:defRPr>
            </a:pPr>
            <a:r>
              <a:rPr sz="1575" b="1">
                <a:solidFill>
                  <a:srgbClr val="16202E"/>
                </a:solidFill>
              </a:rPr>
              <a:t>解决：把判断条件写进更新语句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3ED04-A13B-4F4B-8DA0-8B207BAE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BD9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77925-AAA8-46B2-A416-7D5A23F2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243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864"/>
                </a:solidFill>
              </a:defRPr>
            </a:pPr>
            <a:r>
              <a:rPr sz="1575" b="0">
                <a:solidFill>
                  <a:srgbClr val="1F3864"/>
                </a:solidFill>
              </a:rPr>
              <a:t>UPDATE biz_stock SET quantity = quantity - 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499A1-18E1-4034-9796-F9C62CBF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481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864"/>
                </a:solidFill>
              </a:defRPr>
            </a:pPr>
            <a:r>
              <a:rPr sz="1575" b="0">
                <a:solidFill>
                  <a:srgbClr val="1F3864"/>
                </a:solidFill>
              </a:rPr>
              <a:t>WHERE id = ? AND quantity &gt;= n;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9DF85-1A1C-43D1-AC86-96A36BAD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影响行数为 0 即回滚，配合 @Transactional 保证库存与流水同时成功或同时失败。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A55C6-EE93-4259-88D8-98558C2D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05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3864"/>
                </a:solidFill>
              </a:defRPr>
            </a:pPr>
            <a:r>
              <a:rPr sz="2100" b="1">
                <a:solidFill>
                  <a:srgbClr val="1F3864"/>
                </a:solidFill>
              </a:rPr>
              <a:t>批次效期与成本核算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27E95-15E2-45AA-92F5-A976F424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FC84F-8AFC-4EE6-8C80-24C8E4C9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955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同一物料不同批次的价值与效期不同，混在一起算会导致账实不符。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0C8D5-C894-4D9B-A752-7C0F4829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52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202E"/>
                </a:solidFill>
              </a:defRPr>
            </a:pPr>
            <a:r>
              <a:rPr sz="1575" b="1">
                <a:solidFill>
                  <a:srgbClr val="16202E"/>
                </a:solidFill>
              </a:rPr>
              <a:t>解决：按批次建库存，按加权平均算成本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E5D72-80D2-4248-AE5E-6769388E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33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864"/>
                </a:solidFill>
              </a:defRPr>
            </a:pPr>
            <a:r>
              <a:rPr sz="1575" b="0">
                <a:solidFill>
                  <a:srgbClr val="1F3864"/>
                </a:solidFill>
              </a:rPr>
              <a:t>新均价 =（原有库存金额 + 本次入库金额）÷ 入库后总数量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C29E7B-8573-4422-8B5C-B16EF922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29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低于安全库存自动提示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1B7EC-B4C7-452E-87C2-A2CD0B61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90 天无出库判定为呆滞物料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A7CCD-EEBA-4B7D-A2DE-D78E57E5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29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04F"/>
                </a:solidFill>
              </a:defRPr>
            </a:pPr>
            <a:r>
              <a:rPr sz="1575" b="0">
                <a:solidFill>
                  <a:srgbClr val="33404F"/>
                </a:solidFill>
              </a:rPr>
              <a:t>90 天内到期触发临期预警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32AB72-4134-452D-9BCA-F3532239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F97769-1747-4785-8918-295A20AA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8361FA-2E24-40DE-BCED-E3F51F49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236996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D524D-A632-4E22-B57E-70C6B5D7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E96CB-487D-44CE-A7A1-B6127B08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F5055-591F-4CCC-992B-529BCC6E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系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统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测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4FA4A-E39C-4277-83C3-48B8FF36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ACD80-F6DA-4D61-BE24-AF893BBF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DA008-D7F6-4B27-B527-7F311566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52454ece24b9f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3D0D1E64-1500-45B5-B830-B2D9737F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系统测试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B76A23D-9851-4614-AA2E-0673C80B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功能、安全与业务规则三类验证均通过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AFEFD-A288-4108-B98F-9D142B71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23671-4E70-4BCF-A5FC-472EA5AB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E25BE-4408-489A-A295-5A981A71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3864"/>
                </a:solidFill>
              </a:defRPr>
            </a:pPr>
            <a:r>
              <a:rPr sz="2400" b="1">
                <a:solidFill>
                  <a:srgbClr val="1F3864"/>
                </a:solidFill>
              </a:rPr>
              <a:t>测试环境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9F1A9-94F3-495E-BA91-C46ACF14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57400"/>
            <a:ext cx="670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Windows 11 / JDK 11 / MySQL 5.7 / Maven 3.9 / Edge 浏览器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6A12D-0F9C-4764-9A40-8D038529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449C7-9FF5-4F89-94E2-05730B5D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95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3864"/>
                </a:solidFill>
              </a:defRPr>
            </a:pPr>
            <a:r>
              <a:rPr sz="2400" b="1">
                <a:solidFill>
                  <a:srgbClr val="1F3864"/>
                </a:solidFill>
              </a:rPr>
              <a:t>已执行验证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02CC6-151E-44B1-A0EA-0868FA2B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14700"/>
            <a:ext cx="670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单元测试 2 项（BCrypt 密码加密与校验）全部通过；接口冒烟测试覆盖登录、看板、库存查询、补货生成、预警扫描、单据审核等 11 个接口。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642F4-B676-48D0-B736-9B82377A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672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D1C5D-4079-4F9D-A13E-B3D9FD7B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3864"/>
                </a:solidFill>
              </a:defRPr>
            </a:pPr>
            <a:r>
              <a:rPr sz="2400" b="1">
                <a:solidFill>
                  <a:srgbClr val="1F3864"/>
                </a:solidFill>
              </a:rPr>
              <a:t>业务规则校验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AF185-3AAB-4E60-89B3-C4A491A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72000"/>
            <a:ext cx="670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库存不足时出库被拒绝；非待审核状态的单据无法审核；已过账单据不允许删除；盘点盈亏可自动调整库存。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FEFC0-D6AD-4AAF-BB93-028845D8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6C4CA-21B6-4E64-98A3-9C759530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17AE-93AB-4EFC-87BB-5365988A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2787797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E4CBC-C7D4-4E87-BE18-21F0EF77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7588A-0A9B-4441-B2DC-FCC8F95F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8F1A2-FAF4-47A3-A8B5-56A2C2D0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总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结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展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94592-DD65-4A71-9B02-7FDE802C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DB6D8-1693-4923-9780-D40B8B01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2A140-12D0-4776-8635-1FE9000B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d5dbecae54cdf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2ABFF86F-693E-4EBC-A23F-77F55747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总结展望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22B264D-9D19-4DD7-8A47-D0E133FB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已完成一个可运行、可追溯、可决策的库存系统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E19EA-6802-48C3-A8B0-699E4EA8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A93BD-E8BC-4A6F-8255-DCB0295D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865DF-6662-42CA-87C6-19FD751D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621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3864"/>
                </a:solidFill>
              </a:defRPr>
            </a:pPr>
            <a:r>
              <a:rPr sz="3300" b="1">
                <a:solidFill>
                  <a:srgbClr val="1F3864"/>
                </a:solidFill>
              </a:rPr>
              <a:t>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02523-3871-4B59-A9FB-5D4B67AF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张数据表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1F774-93EA-4990-B6DF-F81ADFCE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621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3864"/>
                </a:solidFill>
              </a:defRPr>
            </a:pPr>
            <a:r>
              <a:rPr sz="3300" b="1">
                <a:solidFill>
                  <a:srgbClr val="1F3864"/>
                </a:solidFill>
              </a:rPr>
              <a:t>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A549D-B6FD-4CBC-831A-F1846D6C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336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个业务页面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BFD07-88F9-4753-A09C-01514546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3864"/>
                </a:solidFill>
              </a:defRPr>
            </a:pPr>
            <a:r>
              <a:rPr sz="3300" b="1">
                <a:solidFill>
                  <a:srgbClr val="1F3864"/>
                </a:solidFill>
              </a:rPr>
              <a:t>127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F3A83-B41B-48C0-9AE7-9A6A357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个后端源文件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56EBC-42E6-4D46-BE3B-596FFB5B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621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3864"/>
                </a:solidFill>
              </a:defRPr>
            </a:pPr>
            <a:r>
              <a:rPr sz="3300" b="1">
                <a:solidFill>
                  <a:srgbClr val="1F3864"/>
                </a:solidFill>
              </a:rPr>
              <a:t>约 7200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3B1FD0-E401-4075-962F-F972A3FA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行前后端代码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E29B8A-9A05-46E0-93D2-8782B9A1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67050"/>
            <a:ext cx="1013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E5007-805C-4288-8837-F1D59C1D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02E"/>
                </a:solidFill>
              </a:defRPr>
            </a:pPr>
            <a:r>
              <a:rPr sz="2400" b="1">
                <a:solidFill>
                  <a:srgbClr val="16202E"/>
                </a:solidFill>
              </a:rPr>
              <a:t>已经做到的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8E18F-71E5-43E4-A482-142C86F8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库存变动全程留痕，单据可审核、可打印、可追溯；补货从经验判断变为模型计算；批次与效期纳入管控，账实更易相符。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AA728-101A-4A4D-BB41-F2F0B296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02E"/>
                </a:solidFill>
              </a:defRPr>
            </a:pPr>
            <a:r>
              <a:rPr sz="2400" b="1">
                <a:solidFill>
                  <a:srgbClr val="16202E"/>
                </a:solidFill>
              </a:rPr>
              <a:t>下一步可以做的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4BAC4-F0FA-4102-8CAF-E697B6BA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909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04F"/>
                </a:solidFill>
              </a:defRPr>
            </a:pPr>
            <a:r>
              <a:rPr sz="1650" b="0">
                <a:solidFill>
                  <a:srgbClr val="33404F"/>
                </a:solidFill>
              </a:rPr>
              <a:t>用需求预测替代固定补货提前期；多仓库之间的调拨路径与运费优化；接入扫码枪，减少人工录入环节。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E5B9F-5276-4C2B-BB4F-57F9585E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76900"/>
            <a:ext cx="1013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889"/>
                </a:solidFill>
              </a:defRPr>
            </a:pPr>
            <a:r>
              <a:rPr sz="1650" b="0">
                <a:solidFill>
                  <a:srgbClr val="6B7889"/>
                </a:solidFill>
              </a:rPr>
              <a:t>系统已在本地完整部署，可现场演示全部业务流程。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5BF885-3154-47DD-89D2-C00589E2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2C7E7B-4F42-4DEF-A723-5F0B5AE5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AAEA0-1F3B-4575-9819-0B0AD937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2731916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0AA315-EB26-4D5C-A79E-EB3FF7F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B97D4-2506-4D23-8DB4-FFABD514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D7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93172-5059-4357-B78A-9762C460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914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致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12AEE-344F-4EE4-8430-2891568F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81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E974D-E883-4159-8D75-A9CB42C5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CFC80-EDBE-4DAE-8BBC-AF7B3646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48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4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2ae5aaebc41c1"/>
          <a:stretch xmlns:a="http://schemas.openxmlformats.org/drawingml/2006/main"/>
        </p:blipFill>
        <p:spPr>
          <a:xfrm xmlns:a="http://schemas.openxmlformats.org/drawingml/2006/main">
            <a:off x="9105900" y="363925"/>
            <a:ext cx="2476500" cy="386576"/>
          </a:xfrm>
          <a:prstGeom xmlns:a="http://schemas.openxmlformats.org/drawingml/2006/main" prst="rect">
            <a:avLst/>
          </a:prstGeom>
        </p:spPr>
      </p:pic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4415A56D-62A9-4214-B698-C7B036D4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AA7"/>
                </a:solidFill>
              </a:defRPr>
            </a:pPr>
            <a:r>
              <a:rPr sz="1575" b="1">
                <a:solidFill>
                  <a:srgbClr val="2B5AA7"/>
                </a:solidFill>
              </a:rPr>
              <a:t>致谢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C14998A-67B2-4192-9957-DDC6AC6F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001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02E"/>
                </a:solidFill>
              </a:defRPr>
            </a:pPr>
            <a:r>
              <a:rPr sz="3600" b="1">
                <a:solidFill>
                  <a:srgbClr val="16202E"/>
                </a:solidFill>
              </a:rPr>
              <a:t>感谢一路上的指导与帮助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F3C9F-E256-4FC3-9C73-C63ADD9D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86CD8-99CA-44EA-9BD9-B47F985D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2575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B659E-CFBD-4EA2-ABA4-E5B7104A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1013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3404F"/>
                </a:solidFill>
              </a:defRPr>
            </a:pPr>
            <a:r>
              <a:rPr sz="1800" b="0">
                <a:solidFill>
                  <a:srgbClr val="33404F"/>
                </a:solidFill>
              </a:rPr>
              <a:t>感谢指导教师在选题、系统设计与论文撰写过程中的悉心指导；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568BE-52C9-4030-8B02-3179D5A2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81300"/>
            <a:ext cx="1013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3404F"/>
                </a:solidFill>
              </a:defRPr>
            </a:pPr>
            <a:r>
              <a:rPr sz="1800" b="0">
                <a:solidFill>
                  <a:srgbClr val="33404F"/>
                </a:solidFill>
              </a:rPr>
              <a:t>感谢学院提供的实验条件，以及各位老师在答辩中提出的宝贵意见；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7F7C2-B783-4077-AFF9-FDEACA9B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1013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3404F"/>
                </a:solidFill>
              </a:defRPr>
            </a:pPr>
            <a:r>
              <a:rPr sz="1800" b="0">
                <a:solidFill>
                  <a:srgbClr val="33404F"/>
                </a:solidFill>
              </a:rPr>
              <a:t>感谢同学在系统测试与材料整理过程中给予的帮助。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74E28-E96B-4650-87B5-038017A7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005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F01A3-9AB6-44C5-9881-2FC8004D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05300"/>
            <a:ext cx="1013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3864"/>
                </a:solidFill>
              </a:defRPr>
            </a:pPr>
            <a:r>
              <a:rPr sz="2400" b="1">
                <a:solidFill>
                  <a:srgbClr val="1F3864"/>
                </a:solidFill>
              </a:rPr>
              <a:t>请各位老师批评指正。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5eae6dfa34aee"/>
          <a:stretch xmlns:a="http://schemas.openxmlformats.org/drawingml/2006/main"/>
        </p:blipFill>
        <p:spPr>
          <a:xfrm xmlns:a="http://schemas.openxmlformats.org/drawingml/2006/main">
            <a:off x="4762500" y="5144894"/>
            <a:ext cx="2667000" cy="416312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6A15B-D5E4-4962-B970-1977FC46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CA12C-6A1E-46F5-9564-ED78C6A6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4C2"/>
                </a:solidFill>
              </a:defRPr>
            </a:pPr>
            <a:r>
              <a:rPr sz="1575" b="0">
                <a:solidFill>
                  <a:srgbClr val="A9B4C2"/>
                </a:solidFill>
              </a:rPr>
              <a:t>江西软件职业技术大学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5A1C1-06CC-4BF7-A515-B3AC1BB2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B7889"/>
                </a:solidFill>
              </a:defRPr>
            </a:pPr>
            <a:r>
              <a:rPr sz="1575" b="0">
                <a:solidFill>
                  <a:srgbClr val="6B7889"/>
                </a:solidFill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579418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2026-10-11T14:38:09.0870000Z</dcterms:created>
  <dcterms:modified xsi:type="dcterms:W3CDTF">2026-10-11T14:38:09.0880000Z</dcterms:modified>
</coreProperties>
</file>